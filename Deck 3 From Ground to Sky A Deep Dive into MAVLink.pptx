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Montserrat SemiBol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273A0C-E9EC-45FC-97AC-A2B945169888}">
  <a:tblStyle styleId="{A4273A0C-E9EC-45FC-97AC-A2B9451698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SemiBold-bold.fntdata"/><Relationship Id="rId21" Type="http://schemas.openxmlformats.org/officeDocument/2006/relationships/font" Target="fonts/MontserratSemiBold-regular.fntdata"/><Relationship Id="rId24" Type="http://schemas.openxmlformats.org/officeDocument/2006/relationships/font" Target="fonts/MontserratSemiBold-boldItalic.fntdata"/><Relationship Id="rId23" Type="http://schemas.openxmlformats.org/officeDocument/2006/relationships/font" Target="fonts/Montserrat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5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8c8320686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8c8320686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c8320686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c8320686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8c8320686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8c8320686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8c8320686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8c8320686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8c8320686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8c8320686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8c8320686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8c8320686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8ce09895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8ce09895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8e57a2b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8e57a2b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8e57a2b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8e57a2b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8e57a2b4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8e57a2b4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8e57a2b4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8e57a2b4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8e57a2b4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8e57a2b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8e57a2b4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8e57a2b4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Ground </a:t>
            </a:r>
            <a:r>
              <a:rPr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to </a:t>
            </a:r>
            <a:r>
              <a:rPr b="1"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Sky</a:t>
            </a:r>
            <a:endParaRPr b="1" sz="418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 Deep Dive into</a:t>
            </a:r>
            <a:r>
              <a:rPr b="1" lang="en-GB" sz="418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MAVLink</a:t>
            </a:r>
            <a:endParaRPr b="1" sz="418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1️⃣ Introduction to MAVLink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What it is, why it exists, and its role in UAV communication.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Interactive: “Who talks to whom?” activity.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2️⃣ MAVLink Architecture &amp; Message Format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Understand how MAVLink packets are structured and transmitted.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Visual: Packet breakdown, message fields, CRC.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3️⃣ Communication Flow in UAV Systems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GCS, Flight Controller, and Companion Computer exchange data.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Diagram: Multi-link MAVLink network.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4️⃣ Hands-On: Sending and Receiving MAVLink Messages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Using pymavlink to monitor telemetry and send commands.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Live demo: HEARTBEAT, ATTITUDE, COMMAND_LONG.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b="1"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5️⃣ Advanced Topics — MAVLink v2 &amp; Security Enhancements</a:t>
            </a:r>
            <a:endParaRPr b="1"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8888"/>
              <a:buFont typeface="Arial"/>
              <a:buNone/>
            </a:pP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 signing, CRC extra, custom XML messages.</a:t>
            </a:r>
            <a:b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380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Showcase: Custom message generation demo.</a:t>
            </a:r>
            <a:endParaRPr sz="3807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700">
                <a:solidFill>
                  <a:schemeClr val="dk2"/>
                </a:solidFill>
              </a:rPr>
              <a:t>Goal</a:t>
            </a:r>
            <a:endParaRPr sz="29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500">
                <a:solidFill>
                  <a:schemeClr val="accent1"/>
                </a:solidFill>
              </a:rPr>
              <a:t>Understand MAVLink architecture, message flow, and practical implementation for UAVs</a:t>
            </a:r>
            <a:endParaRPr sz="2500">
              <a:solidFill>
                <a:schemeClr val="accent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600" y="2199375"/>
            <a:ext cx="4970801" cy="279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Speaking the Drone’s Language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n-GB" sz="1300">
                <a:latin typeface="Montserrat"/>
                <a:ea typeface="Montserrat"/>
                <a:cs typeface="Montserrat"/>
                <a:sym typeface="Montserrat"/>
              </a:rPr>
              <a:t>Understanding How Drones, Ground Stations, and Computers Communicate in the Sky</a:t>
            </a:r>
            <a:endParaRPr b="1" i="1"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8575" y="1497000"/>
            <a:ext cx="3960275" cy="3566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49" y="3299173"/>
            <a:ext cx="1825875" cy="16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53275" y="3314285"/>
            <a:ext cx="1736698" cy="168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Message Format — The Anatomy of a Packet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5178850" y="2571750"/>
            <a:ext cx="3653400" cy="21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8836"/>
              <a:buFont typeface="Arial"/>
              <a:buNone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Imagine you’re running a drone communication network — like a </a:t>
            </a:r>
            <a:r>
              <a:rPr b="1" i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chat system</a:t>
            </a: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between: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5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Ground Control Station (GCS) 🖥️ (like QGroundControl)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5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Drone’s Flight Controller 🧠 (like Pixhawk, Cube, etc.)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653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-GB" sz="225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and sometimes a Companion Computer 🤖 (like Jetson Nano or Raspberry Pi).</a:t>
            </a:r>
            <a:endParaRPr b="1" sz="225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700" y="1190400"/>
            <a:ext cx="5314700" cy="111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0600" y="2405979"/>
            <a:ext cx="3846274" cy="24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MAVLink Packet Structure — </a:t>
            </a:r>
            <a:r>
              <a:rPr lang="en-GB"/>
              <a:t>Simplified Explanation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09550" y="1409250"/>
            <a:ext cx="4296300" cy="325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✅ Example analogy: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Imagine you’re sending a letter to your friend: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envelope (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header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has your name and address.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subject (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 ID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says what the letter is about.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content (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payload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is your actual message.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signature proves </a:t>
            </a:r>
            <a:r>
              <a:rPr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wrote it.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3211" lvl="0" marL="838200" marR="381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checksum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ensures it wasn’t changed in transit.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400" y="1017725"/>
            <a:ext cx="4366900" cy="415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Communication Flow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5268975" y="3085700"/>
            <a:ext cx="3563400" cy="18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💬  </a:t>
            </a:r>
            <a:r>
              <a:rPr b="1" lang="en-GB" sz="13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Quick Analogy </a:t>
            </a:r>
            <a:endParaRPr b="1" sz="13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“Think of MAVLink as a group chat </a:t>
            </a:r>
            <a:b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Ground Station says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‘Take off!’</a:t>
            </a:r>
            <a:b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 Flight Controller replies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‘Altitude 20m reached!’</a:t>
            </a:r>
            <a:b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Companion Computer adds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‘Object detected ahead.’</a:t>
            </a:r>
            <a:br>
              <a:rPr b="1" i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in the same language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— MAVLink.”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900" y="1209125"/>
            <a:ext cx="3263425" cy="18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50" y="1517600"/>
            <a:ext cx="4571750" cy="23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Concepts — </a:t>
            </a:r>
            <a:r>
              <a:rPr lang="en-GB"/>
              <a:t>MAVLink 2: Security 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🧠</a:t>
            </a:r>
            <a:r>
              <a:rPr b="1" lang="en-GB" sz="11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 Concept</a:t>
            </a:r>
            <a:endParaRPr b="1" sz="11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MAVLink 2</a:t>
            </a: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can </a:t>
            </a:r>
            <a:r>
              <a:rPr i="1"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sign each message</a:t>
            </a:r>
            <a:r>
              <a:rPr lang="en-GB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a digital fingerprint — proving it really came from your drone or GCS.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400" y="2327723"/>
            <a:ext cx="2938775" cy="24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/>
        </p:nvSpPr>
        <p:spPr>
          <a:xfrm>
            <a:off x="3640600" y="1974075"/>
            <a:ext cx="2914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🧱 </a:t>
            </a:r>
            <a:r>
              <a:rPr b="1" lang="en-GB" sz="1100">
                <a:solidFill>
                  <a:schemeClr val="dk1"/>
                </a:solidFill>
              </a:rPr>
              <a:t>Purpose: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Prevent </a:t>
            </a:r>
            <a:r>
              <a:rPr b="1" lang="en-GB" sz="1100">
                <a:solidFill>
                  <a:schemeClr val="dk1"/>
                </a:solidFill>
              </a:rPr>
              <a:t>spoofing</a:t>
            </a:r>
            <a:r>
              <a:rPr lang="en-GB" sz="1100">
                <a:solidFill>
                  <a:schemeClr val="dk1"/>
                </a:solidFill>
              </a:rPr>
              <a:t> (fake messages)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Stop </a:t>
            </a:r>
            <a:r>
              <a:rPr b="1" lang="en-GB" sz="1100">
                <a:solidFill>
                  <a:schemeClr val="dk1"/>
                </a:solidFill>
              </a:rPr>
              <a:t>replay attacks</a:t>
            </a:r>
            <a:r>
              <a:rPr lang="en-GB" sz="1100">
                <a:solidFill>
                  <a:schemeClr val="dk1"/>
                </a:solidFill>
              </a:rPr>
              <a:t> (resending old commands)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Protect </a:t>
            </a:r>
            <a:r>
              <a:rPr b="1" lang="en-GB" sz="1100">
                <a:solidFill>
                  <a:schemeClr val="dk1"/>
                </a:solidFill>
              </a:rPr>
              <a:t>command integrity</a:t>
            </a:r>
            <a:r>
              <a:rPr lang="en-GB" sz="1100">
                <a:solidFill>
                  <a:schemeClr val="dk1"/>
                </a:solidFill>
              </a:rPr>
              <a:t> in multi-drone or defense setups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Advanced Concepts — MAVLink 2 Extensions 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311700" y="274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{A4273A0C-E9EC-45FC-97AC-A2B945169888}</a:tableStyleId>
              </a:tblPr>
              <a:tblGrid>
                <a:gridCol w="1469475"/>
                <a:gridCol w="811875"/>
                <a:gridCol w="1152850"/>
              </a:tblGrid>
              <a:tr h="284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Feature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MAVLink 1</a:t>
                      </a:r>
                      <a:endParaRPr b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MAVLink 2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Message Size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263 bytes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280 bytes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Extensions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❌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✅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Message Signing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❌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✅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Backward Compatible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❌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✅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26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CRC Extra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Basic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800"/>
                        <a:t>Stronger Check</a:t>
                      </a:r>
                      <a:endParaRPr b="1"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62331"/>
            <a:ext cx="4581525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0673" y="1451323"/>
            <a:ext cx="3991526" cy="28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T</a:t>
            </a:r>
            <a:r>
              <a:rPr lang="en-GB"/>
              <a:t>he Future of UAV Communication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4271200" y="264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{A4273A0C-E9EC-45FC-97AC-A2B945169888}</a:tableStyleId>
              </a:tblPr>
              <a:tblGrid>
                <a:gridCol w="1260775"/>
                <a:gridCol w="3204200"/>
              </a:tblGrid>
              <a:tr h="277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🔮 Trend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What It Means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Encrypted MAVLink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for full message encryption (beyond signing)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DroneCAN Integration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MAVLink over CAN for modular avionics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Swarm &amp; AI Extensions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Data sharing between autonomous UAVs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  <a:tr h="26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Standardized Extensions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Common fields for industry compatibility</a:t>
                      </a:r>
                      <a:endParaRPr sz="8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2"/>
          <p:cNvSpPr txBox="1"/>
          <p:nvPr/>
        </p:nvSpPr>
        <p:spPr>
          <a:xfrm>
            <a:off x="4067225" y="1261025"/>
            <a:ext cx="4572600" cy="14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MAVLink 2 isn’t just communication — it’s the digital backbone of next-gen UAV networks.</a:t>
            </a:r>
            <a:endParaRPr b="1" i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75325"/>
            <a:ext cx="3755525" cy="227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Case Study : </a:t>
            </a:r>
            <a:r>
              <a:rPr lang="en-GB"/>
              <a:t>How MAVLink 2 powers real-time coordination in next-generation combat UAVs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667625"/>
            <a:ext cx="8520600" cy="29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500">
                <a:latin typeface="Montserrat ExtraBold"/>
                <a:ea typeface="Montserrat ExtraBold"/>
                <a:cs typeface="Montserrat ExtraBold"/>
                <a:sym typeface="Montserrat ExtraBold"/>
              </a:rPr>
              <a:t>Collaborative</a:t>
            </a:r>
            <a:r>
              <a:rPr lang="en-GB" sz="3500">
                <a:latin typeface="Montserrat ExtraBold"/>
                <a:ea typeface="Montserrat ExtraBold"/>
                <a:cs typeface="Montserrat ExtraBold"/>
                <a:sym typeface="Montserrat ExtraBold"/>
              </a:rPr>
              <a:t> Combat UAV</a:t>
            </a:r>
            <a:endParaRPr sz="35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Mission Scenario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9276" y="1444500"/>
            <a:ext cx="6615325" cy="27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1609650" y="4347475"/>
            <a:ext cx="5756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Each UAV is both a sensor and a teammate — sharing data, reacting collectively.</a:t>
            </a:r>
            <a:endParaRPr i="1"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MAVLink 2: The Digital Backbone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888" y="1323700"/>
            <a:ext cx="597217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Technical Highlights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482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🔐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Message signing ensures command authenticity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CRC checks protect message integrity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📡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Network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Multi-node UDP link with dynamic routing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Fallback to serial or radio if link lost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🧩 </a:t>
            </a:r>
            <a:r>
              <a:rPr b="1"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Extensibility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 </a:t>
            </a:r>
            <a:r>
              <a:rPr lang="en-GB" sz="1100">
                <a:solidFill>
                  <a:srgbClr val="188038"/>
                </a:solidFill>
                <a:latin typeface="Montserrat"/>
                <a:ea typeface="Montserrat"/>
                <a:cs typeface="Montserrat"/>
                <a:sym typeface="Montserrat"/>
              </a:rPr>
              <a:t>CCA_STATUS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message (e.g., target vector, threat level,Threat 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prioritization</a:t>
            </a: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b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ontserrat"/>
              <a:buChar char="●"/>
            </a:pPr>
            <a:r>
              <a:rPr lang="en-GB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Payload module updates over MAVLink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3" name="Google Shape;153;p26"/>
          <p:cNvGraphicFramePr/>
          <p:nvPr/>
        </p:nvGraphicFramePr>
        <p:xfrm>
          <a:off x="5067575" y="1456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{A4273A0C-E9EC-45FC-97AC-A2B945169888}</a:tableStyleId>
              </a:tblPr>
              <a:tblGrid>
                <a:gridCol w="2095500"/>
                <a:gridCol w="1952625"/>
              </a:tblGrid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Capability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Enabled by MAVLink 2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Real-time target sharing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Message broadcasting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Secure coordination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Message signing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Modular payload upgrades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Message extensions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Reduced GCS dependency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Peer-to-peer links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