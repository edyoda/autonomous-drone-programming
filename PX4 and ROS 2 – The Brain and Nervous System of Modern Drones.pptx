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E40A56-691A-4B93-A411-D3AE71E02BFF}">
  <a:tblStyle styleId="{C1E40A56-691A-4B93-A411-D3AE71E02B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8656cf08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8656cf0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656cf08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656cf08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8656cf08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8656cf08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656cf08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8656cf08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86973c82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86973c82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f784ace8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f784ace8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784ace8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784ace8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784ace8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784ace8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784ace8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784ace8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784ace8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f784ace8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784ace8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784ace8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784ace8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784ace8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784ace8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f784ace8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f784ace8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f784ace8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accent1"/>
                </a:solidFill>
              </a:rPr>
              <a:t>PX4 and ROS 2 – The Brain and Nervous System of Modern Drones”</a:t>
            </a:r>
            <a:endParaRPr sz="3500"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72000" y="4165450"/>
            <a:ext cx="456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Rohan More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Senior Software Engineer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	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Introduction to PX4 and ROS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Industrial Analogy: How PX4 and ROS 2 Work Together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PX4 – Deeper Insight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ROS 2 – Industrial View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QGroundControl + PX4 + Gazebo Simulation Demo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Remote-Controlled to Self-Aware: Evolution of Drone Autonomy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Let’s explore how </a:t>
            </a:r>
            <a:r>
              <a:rPr b="1" lang="en-GB" sz="1100">
                <a:solidFill>
                  <a:schemeClr val="dk1"/>
                </a:solidFill>
              </a:rPr>
              <a:t>PX4</a:t>
            </a:r>
            <a:r>
              <a:rPr lang="en-GB" sz="1100">
                <a:solidFill>
                  <a:schemeClr val="dk1"/>
                </a:solidFill>
              </a:rPr>
              <a:t> (the pilot) and </a:t>
            </a:r>
            <a:r>
              <a:rPr b="1" lang="en-GB" sz="1100">
                <a:solidFill>
                  <a:schemeClr val="dk1"/>
                </a:solidFill>
              </a:rPr>
              <a:t>ROS 2</a:t>
            </a:r>
            <a:r>
              <a:rPr lang="en-GB" sz="1100">
                <a:solidFill>
                  <a:schemeClr val="dk1"/>
                </a:solidFill>
              </a:rPr>
              <a:t> (the AI brain) power this revolution.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🎯 Learning Goals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</a:t>
            </a:r>
            <a:r>
              <a:rPr b="1" lang="en-GB" sz="1100">
                <a:solidFill>
                  <a:schemeClr val="dk1"/>
                </a:solidFill>
              </a:rPr>
              <a:t>how modern drones think and act</a:t>
            </a:r>
            <a:r>
              <a:rPr lang="en-GB" sz="1100">
                <a:solidFill>
                  <a:schemeClr val="dk1"/>
                </a:solidFill>
              </a:rPr>
              <a:t> autonomously.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Explore </a:t>
            </a:r>
            <a:r>
              <a:rPr b="1" lang="en-GB" sz="1100">
                <a:solidFill>
                  <a:schemeClr val="dk1"/>
                </a:solidFill>
              </a:rPr>
              <a:t>PX4 autopilot architecture</a:t>
            </a:r>
            <a:r>
              <a:rPr lang="en-GB" sz="1100">
                <a:solidFill>
                  <a:schemeClr val="dk1"/>
                </a:solidFill>
              </a:rPr>
              <a:t> &amp; its industrial ecosystem.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Learn how </a:t>
            </a:r>
            <a:r>
              <a:rPr b="1" lang="en-GB" sz="1100">
                <a:solidFill>
                  <a:schemeClr val="dk1"/>
                </a:solidFill>
              </a:rPr>
              <a:t>ROS 2 enables AI and autonomy</a:t>
            </a:r>
            <a:r>
              <a:rPr lang="en-GB" sz="1100">
                <a:solidFill>
                  <a:schemeClr val="dk1"/>
                </a:solidFill>
              </a:rPr>
              <a:t> in real UAV platforms.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How PX4 and ROS 2 Work Together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</a:t>
            </a:r>
            <a:r>
              <a:rPr lang="en-GB" sz="1100">
                <a:solidFill>
                  <a:schemeClr val="accent1"/>
                </a:solidFill>
              </a:rPr>
              <a:t>In industry, every intelligent system has a balance between </a:t>
            </a:r>
            <a:r>
              <a:rPr b="1" lang="en-GB" sz="1100">
                <a:solidFill>
                  <a:schemeClr val="accent1"/>
                </a:solidFill>
              </a:rPr>
              <a:t>control</a:t>
            </a:r>
            <a:r>
              <a:rPr lang="en-GB" sz="1100">
                <a:solidFill>
                  <a:schemeClr val="accent1"/>
                </a:solidFill>
              </a:rPr>
              <a:t> and </a:t>
            </a:r>
            <a:r>
              <a:rPr b="1" lang="en-GB" sz="1100">
                <a:solidFill>
                  <a:schemeClr val="accent1"/>
                </a:solidFill>
              </a:rPr>
              <a:t>decision-making</a:t>
            </a:r>
            <a:r>
              <a:rPr lang="en-GB" sz="1100">
                <a:solidFill>
                  <a:schemeClr val="accent1"/>
                </a:solidFill>
              </a:rPr>
              <a:t> — in drones, </a:t>
            </a:r>
            <a:r>
              <a:rPr b="1" lang="en-GB" sz="1100">
                <a:solidFill>
                  <a:schemeClr val="accent1"/>
                </a:solidFill>
              </a:rPr>
              <a:t>PX4 controls</a:t>
            </a:r>
            <a:r>
              <a:rPr lang="en-GB" sz="1100">
                <a:solidFill>
                  <a:schemeClr val="accent1"/>
                </a:solidFill>
              </a:rPr>
              <a:t>, </a:t>
            </a:r>
            <a:r>
              <a:rPr b="1" lang="en-GB" sz="1100">
                <a:solidFill>
                  <a:schemeClr val="accent1"/>
                </a:solidFill>
              </a:rPr>
              <a:t>ROS 2 decides</a:t>
            </a:r>
            <a:r>
              <a:rPr lang="en-GB" sz="1100">
                <a:solidFill>
                  <a:schemeClr val="accent1"/>
                </a:solidFill>
              </a:rPr>
              <a:t>, and </a:t>
            </a:r>
            <a:r>
              <a:rPr b="1" lang="en-GB" sz="1100">
                <a:solidFill>
                  <a:schemeClr val="accent1"/>
                </a:solidFill>
              </a:rPr>
              <a:t>MAVLink connects</a:t>
            </a:r>
            <a:r>
              <a:rPr lang="en-GB" sz="1100">
                <a:solidFill>
                  <a:schemeClr val="accent1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”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575" y="2853304"/>
            <a:ext cx="10456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924" y="4082150"/>
            <a:ext cx="589825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8275" y="2792812"/>
            <a:ext cx="1063636" cy="6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6947" y="3784675"/>
            <a:ext cx="1045675" cy="4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3898975" y="3482275"/>
            <a:ext cx="4746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Brain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828150" y="3592600"/>
            <a:ext cx="773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Intelligent Controls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84" name="Google Shape;84;p16"/>
          <p:cNvCxnSpPr>
            <a:endCxn id="81" idx="0"/>
          </p:cNvCxnSpPr>
          <p:nvPr/>
        </p:nvCxnSpPr>
        <p:spPr>
          <a:xfrm>
            <a:off x="4854285" y="3205975"/>
            <a:ext cx="1015500" cy="57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>
            <a:stCxn id="81" idx="3"/>
            <a:endCxn id="78" idx="1"/>
          </p:cNvCxnSpPr>
          <p:nvPr/>
        </p:nvCxnSpPr>
        <p:spPr>
          <a:xfrm>
            <a:off x="6392622" y="3992700"/>
            <a:ext cx="864300" cy="3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6"/>
          <p:cNvCxnSpPr>
            <a:endCxn id="81" idx="2"/>
          </p:cNvCxnSpPr>
          <p:nvPr/>
        </p:nvCxnSpPr>
        <p:spPr>
          <a:xfrm rot="10800000">
            <a:off x="5869785" y="4200725"/>
            <a:ext cx="1346100" cy="3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6"/>
          <p:cNvCxnSpPr/>
          <p:nvPr/>
        </p:nvCxnSpPr>
        <p:spPr>
          <a:xfrm rot="10800000">
            <a:off x="4589850" y="3332175"/>
            <a:ext cx="733200" cy="4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8" name="Google Shape;8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1302" y="1894950"/>
            <a:ext cx="815301" cy="6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41325" y="1894958"/>
            <a:ext cx="481232" cy="4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6"/>
          <p:cNvCxnSpPr>
            <a:stCxn id="88" idx="1"/>
            <a:endCxn id="77" idx="0"/>
          </p:cNvCxnSpPr>
          <p:nvPr/>
        </p:nvCxnSpPr>
        <p:spPr>
          <a:xfrm flipH="1">
            <a:off x="4151302" y="2241787"/>
            <a:ext cx="2700000" cy="6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6"/>
          <p:cNvCxnSpPr>
            <a:stCxn id="80" idx="3"/>
            <a:endCxn id="77" idx="1"/>
          </p:cNvCxnSpPr>
          <p:nvPr/>
        </p:nvCxnSpPr>
        <p:spPr>
          <a:xfrm>
            <a:off x="2641911" y="3139650"/>
            <a:ext cx="9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Autopilot Architecture – The Pilot Inside the Drone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510420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150" y="1543825"/>
            <a:ext cx="3799400" cy="25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822500" y="1607550"/>
            <a:ext cx="1424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Insight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25" y="2199213"/>
            <a:ext cx="4284675" cy="132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Beyond the Basics – Where It Meets Industry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0" y="5091575"/>
            <a:ext cx="9144000" cy="97500"/>
          </a:xfrm>
          <a:prstGeom prst="rect">
            <a:avLst/>
          </a:prstGeom>
          <a:solidFill>
            <a:srgbClr val="80E6D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" name="Google Shape;109;p18"/>
          <p:cNvGraphicFramePr/>
          <p:nvPr/>
        </p:nvGraphicFramePr>
        <p:xfrm>
          <a:off x="3709575" y="217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{C1E40A56-691A-4B93-A411-D3AE71E02BFF}</a:tableStyleId>
              </a:tblPr>
              <a:tblGrid>
                <a:gridCol w="794300"/>
                <a:gridCol w="3842800"/>
              </a:tblGrid>
              <a:tr h="30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Sector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PX4 Integration Example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Logistics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Autonomous delivery drones with ROS2 perception.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Defense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Swarm coordination using MAVSDK + PX4.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Agriculture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PX4 + ROS2 for multi-drone spraying systems.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7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Inspection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PX4 controlling flight, ROS2 handling vision-based inspection.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72" y="2105084"/>
            <a:ext cx="2810163" cy="189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Microkernel – The Real-Time Brain Inside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runs on </a:t>
            </a:r>
            <a:r>
              <a:rPr b="1" lang="en-GB" sz="1100">
                <a:solidFill>
                  <a:schemeClr val="dk1"/>
                </a:solidFill>
              </a:rPr>
              <a:t>NuttX RTOS</a:t>
            </a:r>
            <a:r>
              <a:rPr lang="en-GB" sz="1100">
                <a:solidFill>
                  <a:schemeClr val="dk1"/>
                </a:solidFill>
              </a:rPr>
              <a:t>, a real-time operating 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Uses </a:t>
            </a:r>
            <a:r>
              <a:rPr b="1" lang="en-GB" sz="1100">
                <a:solidFill>
                  <a:schemeClr val="dk1"/>
                </a:solidFill>
              </a:rPr>
              <a:t>microkernel design</a:t>
            </a:r>
            <a:r>
              <a:rPr lang="en-GB" sz="1100">
                <a:solidFill>
                  <a:schemeClr val="dk1"/>
                </a:solidFill>
              </a:rPr>
              <a:t> → each PX4 module (e.g., sensors, controller, logger) runs as an </a:t>
            </a:r>
            <a:r>
              <a:rPr b="1" lang="en-GB" sz="1100">
                <a:solidFill>
                  <a:schemeClr val="dk1"/>
                </a:solidFill>
              </a:rPr>
              <a:t>independent task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one task crashes, others continue — ensures </a:t>
            </a:r>
            <a:r>
              <a:rPr b="1" lang="en-GB" sz="1100">
                <a:solidFill>
                  <a:schemeClr val="dk1"/>
                </a:solidFill>
              </a:rPr>
              <a:t>high reliability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Deterministic scheduling</a:t>
            </a:r>
            <a:r>
              <a:rPr lang="en-GB" sz="1100">
                <a:solidFill>
                  <a:schemeClr val="dk1"/>
                </a:solidFill>
              </a:rPr>
              <a:t>: every loop (like attitude control) executes with predictable timing.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001" y="2508876"/>
            <a:ext cx="2189075" cy="18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816" y="2248725"/>
            <a:ext cx="1718075" cy="26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Industrial Analogy – How PX4 Keeps Flying When One Sensor Fails using Nuttx OS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361175"/>
            <a:ext cx="85206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Lane Switching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(IMU1) GPS and (IMU2) FC connected sensor.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(NuttX scheduler)</a:t>
            </a:r>
            <a:r>
              <a:rPr lang="en-GB" sz="1100">
                <a:solidFill>
                  <a:schemeClr val="dk1"/>
                </a:solidFill>
              </a:rPr>
              <a:t> constantly monitors both.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If IMU1 gives wrong reading or fails quality checks, the </a:t>
            </a:r>
            <a:r>
              <a:rPr lang="en-GB" sz="1100">
                <a:solidFill>
                  <a:schemeClr val="dk1"/>
                </a:solidFill>
              </a:rPr>
              <a:t>scheduler</a:t>
            </a:r>
            <a:r>
              <a:rPr lang="en-GB" sz="1100">
                <a:solidFill>
                  <a:schemeClr val="dk1"/>
                </a:solidFill>
              </a:rPr>
              <a:t> instantly diverts IMU2 — </a:t>
            </a:r>
            <a:r>
              <a:rPr b="1" lang="en-GB" sz="1100">
                <a:solidFill>
                  <a:schemeClr val="dk1"/>
                </a:solidFill>
              </a:rPr>
              <a:t>without stopping the entire process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</a:rPr>
              <a:t>In PX4, every control lane has a backup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accent1"/>
                </a:solidFill>
              </a:rPr>
              <a:t>NuttX just knows when to switch.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895" y="2438100"/>
            <a:ext cx="1561425" cy="24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uORB – How PX4 Modules Talk to Each Other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uORB</a:t>
            </a:r>
            <a:r>
              <a:rPr lang="en-GB" sz="1100">
                <a:solidFill>
                  <a:schemeClr val="dk1"/>
                </a:solidFill>
              </a:rPr>
              <a:t> = micro message bus inside PX4.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Implements a </a:t>
            </a:r>
            <a:r>
              <a:rPr b="1" lang="en-GB" sz="1100">
                <a:solidFill>
                  <a:schemeClr val="dk1"/>
                </a:solidFill>
              </a:rPr>
              <a:t>Publisher-Subscriber</a:t>
            </a:r>
            <a:r>
              <a:rPr lang="en-GB" sz="1100">
                <a:solidFill>
                  <a:schemeClr val="dk1"/>
                </a:solidFill>
              </a:rPr>
              <a:t> pa</a:t>
            </a:r>
            <a:r>
              <a:rPr lang="en-GB" sz="1100">
                <a:solidFill>
                  <a:schemeClr val="dk1"/>
                </a:solidFill>
              </a:rPr>
              <a:t>t</a:t>
            </a:r>
            <a:r>
              <a:rPr lang="en-GB" sz="1100">
                <a:solidFill>
                  <a:schemeClr val="dk1"/>
                </a:solidFill>
              </a:rPr>
              <a:t>tern → one module publishes data, others subscribe.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Sensor</a:t>
            </a:r>
            <a:r>
              <a:rPr lang="en-GB" sz="1100">
                <a:solidFill>
                  <a:schemeClr val="dk1"/>
                </a:solidFill>
              </a:rPr>
              <a:t> publishes IMU data.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Estimator</a:t>
            </a:r>
            <a:r>
              <a:rPr lang="en-GB" sz="1100">
                <a:solidFill>
                  <a:schemeClr val="dk1"/>
                </a:solidFill>
              </a:rPr>
              <a:t> subscribes to IMU, publishes attitude.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-GB" sz="1100">
                <a:solidFill>
                  <a:schemeClr val="dk1"/>
                </a:solidFill>
              </a:rPr>
              <a:t> subscribes to attitude, outputs actuator commands.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625" y="1930700"/>
            <a:ext cx="3224725" cy="31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Meets ROS 2 – The Autonomy Connection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152475"/>
            <a:ext cx="40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manages </a:t>
            </a:r>
            <a:r>
              <a:rPr b="1" lang="en-GB" sz="1100">
                <a:solidFill>
                  <a:schemeClr val="dk1"/>
                </a:solidFill>
              </a:rPr>
              <a:t>low-level flight control</a:t>
            </a:r>
            <a:r>
              <a:rPr lang="en-GB" sz="1100">
                <a:solidFill>
                  <a:schemeClr val="dk1"/>
                </a:solidFill>
              </a:rPr>
              <a:t> (stabilization, safety).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Companion computer (Jetson, Raspberry Pi, etc.)</a:t>
            </a:r>
            <a:r>
              <a:rPr lang="en-GB" sz="1100">
                <a:solidFill>
                  <a:schemeClr val="dk1"/>
                </a:solidFill>
              </a:rPr>
              <a:t> runs </a:t>
            </a:r>
            <a:r>
              <a:rPr b="1" lang="en-GB" sz="1100">
                <a:solidFill>
                  <a:schemeClr val="dk1"/>
                </a:solidFill>
              </a:rPr>
              <a:t>ROS 2</a:t>
            </a:r>
            <a:r>
              <a:rPr lang="en-GB" sz="1100">
                <a:solidFill>
                  <a:schemeClr val="dk1"/>
                </a:solidFill>
              </a:rPr>
              <a:t> for high-level autonomy.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Communication via </a:t>
            </a:r>
            <a:r>
              <a:rPr b="1" lang="en-GB" sz="1100">
                <a:solidFill>
                  <a:schemeClr val="dk1"/>
                </a:solidFill>
              </a:rPr>
              <a:t>MAVLink, MAVROS, or microRTPS bridge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PX4 → executes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ROS 2 → perceives &amp; plans.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648" y="1088073"/>
            <a:ext cx="4557225" cy="3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26" y="3081601"/>
            <a:ext cx="3824175" cy="156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Research Labs to Industry Floors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140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ROS (Lab)</a:t>
            </a:r>
            <a:r>
              <a:rPr lang="en-GB" sz="1100">
                <a:solidFill>
                  <a:schemeClr val="dk1"/>
                </a:solidFill>
              </a:rPr>
              <a:t> 🧪 → </a:t>
            </a:r>
            <a:r>
              <a:rPr b="1" lang="en-GB" sz="1100">
                <a:solidFill>
                  <a:schemeClr val="dk1"/>
                </a:solidFill>
              </a:rPr>
              <a:t>ROS 2 (Factory)</a:t>
            </a:r>
            <a:r>
              <a:rPr lang="en-GB" sz="1100">
                <a:solidFill>
                  <a:schemeClr val="dk1"/>
                </a:solidFill>
              </a:rPr>
              <a:t> 🏭 → </a:t>
            </a:r>
            <a:r>
              <a:rPr b="1" lang="en-GB" sz="1100">
                <a:solidFill>
                  <a:schemeClr val="dk1"/>
                </a:solidFill>
              </a:rPr>
              <a:t>ROS 2 + PX4 (Air)</a:t>
            </a:r>
            <a:r>
              <a:rPr lang="en-GB" sz="1100">
                <a:solidFill>
                  <a:schemeClr val="dk1"/>
                </a:solidFill>
              </a:rPr>
              <a:t> 🚁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600" y="2231125"/>
            <a:ext cx="1232501" cy="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713" y="2299403"/>
            <a:ext cx="1126069" cy="7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1387325" y="3422200"/>
            <a:ext cx="5383800" cy="1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Analogy: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“ROS was like a college project — creative but fragile.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ROS 2 is like a certified industrial control system — modular, secure, and real-time.”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0" name="Google Shape;150;p23"/>
          <p:cNvCxnSpPr>
            <a:endCxn id="148" idx="1"/>
          </p:cNvCxnSpPr>
          <p:nvPr/>
        </p:nvCxnSpPr>
        <p:spPr>
          <a:xfrm>
            <a:off x="2727413" y="2665103"/>
            <a:ext cx="10953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3"/>
          <p:cNvSpPr txBox="1"/>
          <p:nvPr/>
        </p:nvSpPr>
        <p:spPr>
          <a:xfrm>
            <a:off x="5990025" y="2520875"/>
            <a:ext cx="1730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2 + PX4 (Air)</a:t>
            </a:r>
            <a:r>
              <a:rPr lang="en-GB" sz="1100">
                <a:solidFill>
                  <a:schemeClr val="dk1"/>
                </a:solidFill>
              </a:rPr>
              <a:t> 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2" name="Google Shape;152;p23"/>
          <p:cNvCxnSpPr>
            <a:endCxn id="151" idx="1"/>
          </p:cNvCxnSpPr>
          <p:nvPr/>
        </p:nvCxnSpPr>
        <p:spPr>
          <a:xfrm>
            <a:off x="5076825" y="2653175"/>
            <a:ext cx="913200" cy="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3"/>
          <p:cNvSpPr txBox="1"/>
          <p:nvPr/>
        </p:nvSpPr>
        <p:spPr>
          <a:xfrm>
            <a:off x="3766775" y="2028200"/>
            <a:ext cx="1430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2 (Factory)</a:t>
            </a:r>
            <a:r>
              <a:rPr lang="en-GB" sz="1100">
                <a:solidFill>
                  <a:schemeClr val="dk1"/>
                </a:solidFill>
              </a:rPr>
              <a:t> 🏭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1249125" y="2046175"/>
            <a:ext cx="1358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ROS (Lab)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</a:t>
            </a:r>
            <a:r>
              <a:rPr lang="en-GB"/>
              <a:t>– The Operating System for Robots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340375" y="1222975"/>
            <a:ext cx="3911700" cy="1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785"/>
              <a:buFont typeface="Arial"/>
              <a:buNone/>
            </a:pPr>
            <a:r>
              <a:rPr b="1" lang="en-GB" sz="2124">
                <a:solidFill>
                  <a:schemeClr val="dk1"/>
                </a:solidFill>
              </a:rPr>
              <a:t>🧩 Why It’s Industrial Grade</a:t>
            </a:r>
            <a:endParaRPr b="1" sz="2124">
              <a:solidFill>
                <a:schemeClr val="dk1"/>
              </a:solidFill>
            </a:endParaRPr>
          </a:p>
          <a:p>
            <a:pPr indent="-26830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24">
                <a:solidFill>
                  <a:schemeClr val="dk1"/>
                </a:solidFill>
              </a:rPr>
              <a:t>DDS = same middleware used in </a:t>
            </a:r>
            <a:r>
              <a:rPr b="1" lang="en-GB" sz="1924">
                <a:solidFill>
                  <a:schemeClr val="dk1"/>
                </a:solidFill>
              </a:rPr>
              <a:t>aerospace, defense, and automotive</a:t>
            </a:r>
            <a:r>
              <a:rPr lang="en-GB" sz="1924">
                <a:solidFill>
                  <a:schemeClr val="dk1"/>
                </a:solidFill>
              </a:rPr>
              <a:t>.</a:t>
            </a:r>
            <a:br>
              <a:rPr lang="en-GB" sz="1924">
                <a:solidFill>
                  <a:schemeClr val="dk1"/>
                </a:solidFill>
              </a:rPr>
            </a:br>
            <a:endParaRPr sz="1924">
              <a:solidFill>
                <a:schemeClr val="dk1"/>
              </a:solidFill>
            </a:endParaRPr>
          </a:p>
          <a:p>
            <a:pPr indent="-2683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24">
                <a:solidFill>
                  <a:schemeClr val="dk1"/>
                </a:solidFill>
              </a:rPr>
              <a:t>QoS allows deterministic behavior (e.g., high-rate IMU vs slow planner).</a:t>
            </a:r>
            <a:br>
              <a:rPr lang="en-GB" sz="1924">
                <a:solidFill>
                  <a:schemeClr val="dk1"/>
                </a:solidFill>
              </a:rPr>
            </a:br>
            <a:endParaRPr sz="1924">
              <a:solidFill>
                <a:schemeClr val="dk1"/>
              </a:solidFill>
            </a:endParaRPr>
          </a:p>
          <a:p>
            <a:pPr indent="-2683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24">
                <a:solidFill>
                  <a:schemeClr val="dk1"/>
                </a:solidFill>
              </a:rPr>
              <a:t>Modular → each node can be distributed across multiple computers.</a:t>
            </a:r>
            <a:endParaRPr sz="192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068" y="1152475"/>
            <a:ext cx="4748331" cy="30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50" y="445025"/>
            <a:ext cx="1063636" cy="6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305750" y="2418725"/>
            <a:ext cx="3539100" cy="2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High Performance 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Data Centric Design 🧩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Discovery Mechanism 🔍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Automated peer discovery</a:t>
            </a:r>
            <a:r>
              <a:rPr lang="en-GB" sz="1000">
                <a:solidFill>
                  <a:schemeClr val="dk1"/>
                </a:solidFill>
              </a:rPr>
              <a:t> — no need for a central master.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 Quality of Service (QoS) 🎚️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Communication In DDS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639" y="1077800"/>
            <a:ext cx="6022735" cy="381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ROS 2 Scalability – From Robots to Fleets</a:t>
            </a:r>
            <a:r>
              <a:rPr lang="en-GB"/>
              <a:t> 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875" y="1417013"/>
            <a:ext cx="561975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PX4 + Gazebo + QGroundControl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