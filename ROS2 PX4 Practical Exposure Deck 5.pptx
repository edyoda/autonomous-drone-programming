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 Black"/>
      <p:bold r:id="rId25"/>
      <p:boldItalic r:id="rId26"/>
    </p:embeddedFont>
    <p:embeddedFont>
      <p:font typeface="Raleway ExtraBold"/>
      <p:bold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Nunito"/>
      <p:regular r:id="rId33"/>
      <p:bold r:id="rId34"/>
      <p:italic r:id="rId35"/>
      <p:boldItalic r:id="rId36"/>
    </p:embeddedFont>
    <p:embeddedFont>
      <p:font typeface="Maven Pro"/>
      <p:regular r:id="rId37"/>
      <p:bold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6D570A-4C9D-409F-8D4A-9ED032AB1F6F}">
  <a:tblStyle styleId="{C26D570A-4C9D-409F-8D4A-9ED032AB1F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5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18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7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Black-boldItalic.fntdata"/><Relationship Id="rId25" Type="http://schemas.openxmlformats.org/officeDocument/2006/relationships/font" Target="fonts/RobotoBlack-bold.fntdata"/><Relationship Id="rId28" Type="http://schemas.openxmlformats.org/officeDocument/2006/relationships/font" Target="fonts/RalewayExtraBold-boldItalic.fntdata"/><Relationship Id="rId27" Type="http://schemas.openxmlformats.org/officeDocument/2006/relationships/font" Target="fonts/Raleway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Nunito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Nunito-italic.fntdata"/><Relationship Id="rId12" Type="http://schemas.openxmlformats.org/officeDocument/2006/relationships/slide" Target="slides/slide6.xml"/><Relationship Id="rId34" Type="http://schemas.openxmlformats.org/officeDocument/2006/relationships/font" Target="fonts/Nunito-bold.fntdata"/><Relationship Id="rId15" Type="http://schemas.openxmlformats.org/officeDocument/2006/relationships/slide" Target="slides/slide9.xml"/><Relationship Id="rId37" Type="http://schemas.openxmlformats.org/officeDocument/2006/relationships/font" Target="fonts/MavenPro-regular.fntdata"/><Relationship Id="rId14" Type="http://schemas.openxmlformats.org/officeDocument/2006/relationships/slide" Target="slides/slide8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MavenPr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3a02be578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a3a02be5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3a02be578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3a02be578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3a02be578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3a02be578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dc55092d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dc55092d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e3dcf8b8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e3dcf8b8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dc55092d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dc55092d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e3dcf8b8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e3dcf8b8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dc55092d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dc55092d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dc55092d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dc55092d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dc55092d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dc55092d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3a02be578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3a02be578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5b555ef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5b555ef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dc55092d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dc55092d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e3dcf8b8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e3dcf8b8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e3dcf8b8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e3dcf8b8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e3dcf8b8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e3dcf8b8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e3dcf8b8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e3dcf8b8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e3dcf8b8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e3dcf8b8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PX4/px4_msgs" TargetMode="External"/><Relationship Id="rId4" Type="http://schemas.openxmlformats.org/officeDocument/2006/relationships/hyperlink" Target="https://github.com/PX4/px4_msgs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initializeoffboard.p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/>
          <p:cNvPicPr preferRelativeResize="0"/>
          <p:nvPr/>
        </p:nvPicPr>
        <p:blipFill rotWithShape="1">
          <a:blip r:embed="rId3">
            <a:alphaModFix/>
          </a:blip>
          <a:srcRect b="7998" l="0" r="0" t="7990"/>
          <a:stretch/>
        </p:blipFill>
        <p:spPr>
          <a:xfrm>
            <a:off x="-7620" y="0"/>
            <a:ext cx="92125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 txBox="1"/>
          <p:nvPr/>
        </p:nvSpPr>
        <p:spPr>
          <a:xfrm>
            <a:off x="8203650" y="71696"/>
            <a:ext cx="931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FEFE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EDYODA</a:t>
            </a:r>
            <a:endParaRPr>
              <a:solidFill>
                <a:srgbClr val="EFEFE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264263" y="1573450"/>
            <a:ext cx="86688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080">
                <a:solidFill>
                  <a:schemeClr val="lt1"/>
                </a:solidFill>
              </a:rPr>
              <a:t>ROS 2 + PX4: Architecture, Integration &amp; Industrial Applications</a:t>
            </a:r>
            <a:endParaRPr sz="4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979">
                <a:solidFill>
                  <a:schemeClr val="lt1"/>
                </a:solidFill>
              </a:rPr>
              <a:t>Practical Session</a:t>
            </a:r>
            <a:endParaRPr sz="197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Black"/>
                <a:ea typeface="Roboto Black"/>
                <a:cs typeface="Roboto Black"/>
                <a:sym typeface="Roboto Black"/>
              </a:rPr>
              <a:t>Agenda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303745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PX4 with uXRCE-DDS client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3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XRCE agent on laptop/OBC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3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PX4 ↔ ROS 2 via DDS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3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Visualize PX4 topics inside ROS 2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3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Publish commands from ROS 2 to PX4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3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GB" sz="47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communication flow hands-on</a:t>
            </a:r>
            <a:endParaRPr sz="47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erriweather"/>
                <a:ea typeface="Merriweather"/>
                <a:cs typeface="Merriweather"/>
                <a:sym typeface="Merriweather"/>
              </a:rPr>
              <a:t>PX4 with ROS2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Session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Setup Requirements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311700" y="1152475"/>
            <a:ext cx="788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learners need: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ROS 2 (Humble)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PX4-Autopilot (latest main or v1.14+)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Colcon workspace with px4_msgs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Micro-XRCEAgent installed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QGroundControl GCS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We Will Implement Today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311700" y="1152475"/>
            <a:ext cx="788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487" y="1152475"/>
            <a:ext cx="4088117" cy="379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1 - </a:t>
            </a:r>
            <a:r>
              <a:rPr lang="en-GB"/>
              <a:t>PX4 Firmware Preparation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311700" y="1152475"/>
            <a:ext cx="705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Demonstration: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Clone PX4-Autopilot</a:t>
            </a:r>
            <a:b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dependencies script</a:t>
            </a:r>
            <a:b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with uXRCE-DDS enabled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the command after px4_sitl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5100" y="2874875"/>
            <a:ext cx="50292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575" y="3876275"/>
            <a:ext cx="1759125" cy="5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2 - </a:t>
            </a:r>
            <a:r>
              <a:rPr lang="en-GB"/>
              <a:t>Start the Micro XRCE-DDS Agent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317709" y="1152475"/>
            <a:ext cx="705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Demonstration: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 from a snap package on Ubuntu using the following command: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start the agent with settings for connecting to the uXRCE-DDS client running on the simulator (note that the command name is different than if you build the agent locally):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725" y="2114200"/>
            <a:ext cx="2605525" cy="3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725" y="3437750"/>
            <a:ext cx="2399525" cy="4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 Build ROS 2 Workspace with px4_msgs</a:t>
            </a:r>
            <a:endParaRPr/>
          </a:p>
        </p:txBody>
      </p:sp>
      <p:sp>
        <p:nvSpPr>
          <p:cNvPr id="326" name="Google Shape;326;p20"/>
          <p:cNvSpPr txBox="1"/>
          <p:nvPr>
            <p:ph idx="1" type="body"/>
          </p:nvPr>
        </p:nvSpPr>
        <p:spPr>
          <a:xfrm>
            <a:off x="317709" y="1446900"/>
            <a:ext cx="80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Building the Workspace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1. </a:t>
            </a:r>
            <a:r>
              <a:rPr lang="en-GB" sz="1100">
                <a:solidFill>
                  <a:schemeClr val="dk1"/>
                </a:solidFill>
              </a:rPr>
              <a:t>To create and build the workspace: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Open a new terminal.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Create and navigate into a new workspace directory using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2. Clone the example repository and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px4_msgs</a:t>
            </a:r>
            <a:r>
              <a:rPr lang="en-GB" sz="1100">
                <a:solidFill>
                  <a:schemeClr val="dk1"/>
                </a:solidFill>
              </a:rPr>
              <a:t> to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/src</a:t>
            </a:r>
            <a:r>
              <a:rPr lang="en-GB" sz="1100">
                <a:solidFill>
                  <a:schemeClr val="dk1"/>
                </a:solidFill>
              </a:rPr>
              <a:t> directory (the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100">
                <a:solidFill>
                  <a:schemeClr val="dk1"/>
                </a:solidFill>
              </a:rPr>
              <a:t> branch is cloned by default, which corresponds to the version of PX4 we are running):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Source the ROS 2 development environment into the current terminal and compile the workspace using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colcon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0838" y="2133088"/>
            <a:ext cx="26384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2250" y="3414225"/>
            <a:ext cx="3619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838" y="4287500"/>
            <a:ext cx="282892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Executing the ROS2 Workspace</a:t>
            </a:r>
            <a:endParaRPr/>
          </a:p>
        </p:txBody>
      </p:sp>
      <p:sp>
        <p:nvSpPr>
          <p:cNvPr id="335" name="Google Shape;335;p21"/>
          <p:cNvSpPr txBox="1"/>
          <p:nvPr>
            <p:ph idx="1" type="body"/>
          </p:nvPr>
        </p:nvSpPr>
        <p:spPr>
          <a:xfrm>
            <a:off x="311700" y="1295100"/>
            <a:ext cx="8520600" cy="32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Navigate into the top level of your workspace directory and source the ROS 2 environment (in this case "Humble"):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Source the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local_setup.bash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Now launch the example. Note here that we use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ros2 launch</a:t>
            </a:r>
            <a:r>
              <a:rPr lang="en-GB" sz="1100">
                <a:solidFill>
                  <a:schemeClr val="dk1"/>
                </a:solidFill>
              </a:rPr>
              <a:t>, which is described below.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50" y="1889900"/>
            <a:ext cx="3274475" cy="10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475" y="3423500"/>
            <a:ext cx="2564525" cy="3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375" y="4181050"/>
            <a:ext cx="3160331" cy="2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8425" y="2299550"/>
            <a:ext cx="2304850" cy="21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/>
          <p:nvPr>
            <p:ph type="title"/>
          </p:nvPr>
        </p:nvSpPr>
        <p:spPr>
          <a:xfrm>
            <a:off x="1234325" y="2512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vs ROS2 Frames </a:t>
            </a:r>
            <a:endParaRPr/>
          </a:p>
        </p:txBody>
      </p:sp>
      <p:sp>
        <p:nvSpPr>
          <p:cNvPr id="345" name="Google Shape;345;p22"/>
          <p:cNvSpPr txBox="1"/>
          <p:nvPr>
            <p:ph idx="1" type="body"/>
          </p:nvPr>
        </p:nvSpPr>
        <p:spPr>
          <a:xfrm>
            <a:off x="311700" y="1446900"/>
            <a:ext cx="3346800" cy="26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Think of </a:t>
            </a:r>
            <a:r>
              <a:rPr b="1" lang="en-GB" sz="1100">
                <a:solidFill>
                  <a:schemeClr val="dk1"/>
                </a:solidFill>
              </a:rPr>
              <a:t>drones</a:t>
            </a:r>
            <a:r>
              <a:rPr lang="en-GB" sz="1100">
                <a:solidFill>
                  <a:schemeClr val="dk1"/>
                </a:solidFill>
              </a:rPr>
              <a:t> as living in two "worlds":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PX4 World</a:t>
            </a:r>
            <a:endParaRPr b="1" sz="13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PX4 uses </a:t>
            </a:r>
            <a:r>
              <a:rPr b="1" lang="en-GB" sz="1100">
                <a:solidFill>
                  <a:schemeClr val="dk1"/>
                </a:solidFill>
              </a:rPr>
              <a:t>FRD / NED frames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Think of </a:t>
            </a:r>
            <a:r>
              <a:rPr b="1" lang="en-GB" sz="1100">
                <a:solidFill>
                  <a:schemeClr val="dk1"/>
                </a:solidFill>
              </a:rPr>
              <a:t>airplane style</a:t>
            </a:r>
            <a:r>
              <a:rPr lang="en-GB" sz="1100">
                <a:solidFill>
                  <a:schemeClr val="dk1"/>
                </a:solidFill>
              </a:rPr>
              <a:t>, used by aerospace engineers.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ROS2 World</a:t>
            </a:r>
            <a:endParaRPr b="1" sz="13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ROS2 uses </a:t>
            </a:r>
            <a:r>
              <a:rPr b="1" lang="en-GB" sz="1100">
                <a:solidFill>
                  <a:schemeClr val="dk1"/>
                </a:solidFill>
              </a:rPr>
              <a:t>FLU / ENU frames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Think of </a:t>
            </a:r>
            <a:r>
              <a:rPr b="1" lang="en-GB" sz="1100">
                <a:solidFill>
                  <a:schemeClr val="dk1"/>
                </a:solidFill>
              </a:rPr>
              <a:t>robot style</a:t>
            </a:r>
            <a:r>
              <a:rPr lang="en-GB" sz="1100">
                <a:solidFill>
                  <a:schemeClr val="dk1"/>
                </a:solidFill>
              </a:rPr>
              <a:t>, used by ground robots and cameras.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Because both speak </a:t>
            </a:r>
            <a:r>
              <a:rPr b="1" lang="en-GB" sz="1100">
                <a:solidFill>
                  <a:schemeClr val="dk1"/>
                </a:solidFill>
              </a:rPr>
              <a:t>different “orientation languages”</a:t>
            </a:r>
            <a:r>
              <a:rPr lang="en-GB" sz="1100">
                <a:solidFill>
                  <a:schemeClr val="dk1"/>
                </a:solidFill>
              </a:rPr>
              <a:t>, we must translate between them.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46" name="Google Shape;3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600" y="907020"/>
            <a:ext cx="5043650" cy="22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250" y="3317175"/>
            <a:ext cx="3867325" cy="16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2 Rotations </a:t>
            </a:r>
            <a:endParaRPr/>
          </a:p>
        </p:txBody>
      </p:sp>
      <p:sp>
        <p:nvSpPr>
          <p:cNvPr id="353" name="Google Shape;353;p23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To convert </a:t>
            </a:r>
            <a:r>
              <a:rPr b="1" lang="en-GB" sz="1100">
                <a:solidFill>
                  <a:schemeClr val="dk1"/>
                </a:solidFill>
              </a:rPr>
              <a:t>world frame vectors</a:t>
            </a:r>
            <a:r>
              <a:rPr lang="en-GB" sz="1100">
                <a:solidFill>
                  <a:schemeClr val="dk1"/>
                </a:solidFill>
              </a:rPr>
              <a:t> (like position, velocity), you need: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ENU → NED (ROS → PX4)</a:t>
            </a:r>
            <a:endParaRPr b="1" sz="13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Rotate around </a:t>
            </a:r>
            <a:r>
              <a:rPr b="1" lang="en-GB" sz="1100">
                <a:solidFill>
                  <a:schemeClr val="dk1"/>
                </a:solidFill>
              </a:rPr>
              <a:t>Z-axis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Rotate around </a:t>
            </a:r>
            <a:r>
              <a:rPr b="1" lang="en-GB" sz="1100">
                <a:solidFill>
                  <a:schemeClr val="dk1"/>
                </a:solidFill>
              </a:rPr>
              <a:t>X-axis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just reorders and flips axes.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📝 </a:t>
            </a:r>
            <a:r>
              <a:rPr b="1" lang="en-GB" sz="1100">
                <a:solidFill>
                  <a:schemeClr val="dk1"/>
                </a:solidFill>
              </a:rPr>
              <a:t>Don't worry about the math</a:t>
            </a:r>
            <a:r>
              <a:rPr lang="en-GB" sz="1100">
                <a:solidFill>
                  <a:schemeClr val="dk1"/>
                </a:solidFill>
              </a:rPr>
              <a:t>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Just understand: it’s like rotating a 3D model to match another coordinate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FLU → FRD (ROS → PX4)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Just </a:t>
            </a:r>
            <a:r>
              <a:rPr b="1" lang="en-GB" sz="1100">
                <a:solidFill>
                  <a:schemeClr val="dk1"/>
                </a:solidFill>
              </a:rPr>
              <a:t>flip the Z axis</a:t>
            </a:r>
            <a:r>
              <a:rPr lang="en-GB" sz="1100">
                <a:solidFill>
                  <a:schemeClr val="dk1"/>
                </a:solidFill>
              </a:rPr>
              <a:t> (Up → Down).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is a simple </a:t>
            </a:r>
            <a:r>
              <a:rPr b="1" lang="en-GB" sz="1100">
                <a:solidFill>
                  <a:schemeClr val="dk1"/>
                </a:solidFill>
              </a:rPr>
              <a:t>180° rotation about X-axis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Thrust in ROS2: </a:t>
            </a:r>
            <a:r>
              <a:rPr b="1" lang="en-GB" sz="1100">
                <a:solidFill>
                  <a:schemeClr val="dk1"/>
                </a:solidFill>
              </a:rPr>
              <a:t>“push up”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expects: </a:t>
            </a:r>
            <a:r>
              <a:rPr b="1" lang="en-GB" sz="1100">
                <a:solidFill>
                  <a:schemeClr val="dk1"/>
                </a:solidFill>
              </a:rPr>
              <a:t>“push down”</a:t>
            </a:r>
            <a:r>
              <a:rPr lang="en-GB" sz="1100">
                <a:solidFill>
                  <a:schemeClr val="dk1"/>
                </a:solidFill>
              </a:rPr>
              <a:t> (because Z-down is positive)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>
            <p:ph type="title"/>
          </p:nvPr>
        </p:nvSpPr>
        <p:spPr>
          <a:xfrm>
            <a:off x="1297500" y="3523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Translation is Required</a:t>
            </a:r>
            <a:endParaRPr/>
          </a:p>
        </p:txBody>
      </p:sp>
      <p:sp>
        <p:nvSpPr>
          <p:cNvPr id="360" name="Google Shape;360;p24"/>
          <p:cNvSpPr txBox="1"/>
          <p:nvPr>
            <p:ph idx="1" type="body"/>
          </p:nvPr>
        </p:nvSpPr>
        <p:spPr>
          <a:xfrm>
            <a:off x="1259575" y="1398675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system is used in: PX4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Aviation language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aviation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autopilots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GPS navigation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inertial navigation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 txBox="1"/>
          <p:nvPr>
            <p:ph idx="2" type="body"/>
          </p:nvPr>
        </p:nvSpPr>
        <p:spPr>
          <a:xfrm>
            <a:off x="4797200" y="1398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is standard in:ROS2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Robotics language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robotics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SLAM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cameras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LiDAR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computer vision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2" name="Google Shape;362;p24"/>
          <p:cNvGraphicFramePr/>
          <p:nvPr/>
        </p:nvGraphicFramePr>
        <p:xfrm>
          <a:off x="959300" y="368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{C26D570A-4C9D-409F-8D4A-9ED032AB1F6F}</a:tableStyleId>
              </a:tblPr>
              <a:tblGrid>
                <a:gridCol w="1074175"/>
                <a:gridCol w="1365075"/>
                <a:gridCol w="13986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Movement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PX4 Meaning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ROS Meaning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Z 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Y 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Right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Left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264750"/>
            <a:ext cx="456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PX4 Messages Need Rotation?</a:t>
            </a:r>
            <a:endParaRPr/>
          </a:p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53775" y="1488950"/>
            <a:ext cx="796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1. TrajectorySetpoint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Position, velocity, acceleration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Must be converted </a:t>
            </a:r>
            <a:r>
              <a:rPr b="1" lang="en-GB" sz="1100">
                <a:solidFill>
                  <a:schemeClr val="dk1"/>
                </a:solidFill>
              </a:rPr>
              <a:t>ENU → NED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2. VehicleThrustSetpoint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Forces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Must be converted </a:t>
            </a:r>
            <a:r>
              <a:rPr b="1" lang="en-GB" sz="1100">
                <a:solidFill>
                  <a:schemeClr val="dk1"/>
                </a:solidFill>
              </a:rPr>
              <a:t>FLU → FRD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3. Orientation (Quaternions)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Also must be rotated between frames.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type="title"/>
          </p:nvPr>
        </p:nvSpPr>
        <p:spPr>
          <a:xfrm>
            <a:off x="311700" y="264750"/>
            <a:ext cx="76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Ros2 Topic List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475" y="322875"/>
            <a:ext cx="2891750" cy="49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"/>
          <p:cNvSpPr txBox="1"/>
          <p:nvPr>
            <p:ph type="title"/>
          </p:nvPr>
        </p:nvSpPr>
        <p:spPr>
          <a:xfrm>
            <a:off x="311700" y="264750"/>
            <a:ext cx="76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Ros2 Topic Echo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75" y="1468100"/>
            <a:ext cx="2088175" cy="33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341800" y="1054725"/>
            <a:ext cx="2661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ros2 topic echo /fmu/out/vehicle_gps_position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3211000" y="1054725"/>
            <a:ext cx="2661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ros2 topic echo /fmu/out/battery_status_v1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383" name="Google Shape;3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500" y="1468099"/>
            <a:ext cx="1987081" cy="33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5300" y="1468100"/>
            <a:ext cx="2539575" cy="35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7"/>
          <p:cNvSpPr txBox="1"/>
          <p:nvPr/>
        </p:nvSpPr>
        <p:spPr>
          <a:xfrm>
            <a:off x="6025300" y="1054725"/>
            <a:ext cx="30534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ros2 topic echo /fmu/out</a:t>
            </a:r>
            <a:r>
              <a:rPr lang="en-GB" sz="900">
                <a:solidFill>
                  <a:schemeClr val="dk2"/>
                </a:solidFill>
              </a:rPr>
              <a:t>/vehicle_control_mode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 Node</a:t>
            </a:r>
            <a:endParaRPr/>
          </a:p>
        </p:txBody>
      </p:sp>
      <p:sp>
        <p:nvSpPr>
          <p:cNvPr id="391" name="Google Shape;391;p28"/>
          <p:cNvSpPr txBox="1"/>
          <p:nvPr>
            <p:ph idx="1" type="body"/>
          </p:nvPr>
        </p:nvSpPr>
        <p:spPr>
          <a:xfrm>
            <a:off x="311700" y="1295100"/>
            <a:ext cx="8520600" cy="32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49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88"/>
              <a:buFont typeface="Arial"/>
              <a:buAutoNum type="arabicPeriod"/>
            </a:pPr>
            <a:r>
              <a:rPr lang="en-GB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Navigate into the top level of your workspace directory and source the ROS 2 environment (in this case "Humble"):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75"/>
              <a:buAutoNum type="arabicPeriod"/>
            </a:pPr>
            <a:r>
              <a:rPr lang="en-GB" sz="1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the </a:t>
            </a:r>
            <a:r>
              <a:rPr lang="en-GB" sz="1087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local_setup.bash</a:t>
            </a:r>
            <a:r>
              <a:rPr lang="en-GB" sz="1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25"/>
              <a:buAutoNum type="arabicPeriod"/>
            </a:pPr>
            <a:r>
              <a:rPr lang="en-GB" sz="1025">
                <a:latin typeface="Arial"/>
                <a:ea typeface="Arial"/>
                <a:cs typeface="Arial"/>
                <a:sym typeface="Arial"/>
              </a:rPr>
              <a:t>Navigate to </a:t>
            </a:r>
            <a:r>
              <a:rPr b="1" lang="en-GB" sz="1025">
                <a:latin typeface="Arial"/>
                <a:ea typeface="Arial"/>
                <a:cs typeface="Arial"/>
                <a:sym typeface="Arial"/>
              </a:rPr>
              <a:t>ws_offboard_control/build/px4_ros_com/cmake_install.cmake</a:t>
            </a:r>
            <a:endParaRPr b="1" sz="10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8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i="1" lang="en-GB" sz="825">
                <a:latin typeface="Arial"/>
                <a:ea typeface="Arial"/>
                <a:cs typeface="Arial"/>
                <a:sym typeface="Arial"/>
              </a:rPr>
              <a:t>if("x${CMAKE_INSTALL_COMPONENT}x" STREQUAL "xUnspecifiedx" OR NOT CMAKE_INSTALL_COMPONENT)</a:t>
            </a:r>
            <a:endParaRPr b="1" i="1" sz="8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i="1" lang="en-GB" sz="825">
                <a:latin typeface="Arial"/>
                <a:ea typeface="Arial"/>
                <a:cs typeface="Arial"/>
                <a:sym typeface="Arial"/>
              </a:rPr>
              <a:t>  file(INSTALL DESTINATION "${CMAKE_INSTALL_PREFIX}/lib/px4_ros_com" TYPE PROGRAM FILES "/home/rohan/ws_offboard_control/src/px4_ros_com/src/examples/offboard_py/initializeOffboard.py")</a:t>
            </a:r>
            <a:endParaRPr b="1" i="1" sz="8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i="1" lang="en-GB" sz="825">
                <a:latin typeface="Arial"/>
                <a:ea typeface="Arial"/>
                <a:cs typeface="Arial"/>
                <a:sym typeface="Arial"/>
              </a:rPr>
              <a:t>endif()</a:t>
            </a:r>
            <a:endParaRPr b="1" i="1" sz="825">
              <a:latin typeface="Arial"/>
              <a:ea typeface="Arial"/>
              <a:cs typeface="Arial"/>
              <a:sym typeface="Arial"/>
            </a:endParaRPr>
          </a:p>
          <a:p>
            <a:pPr indent="-28098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AutoNum type="arabicPeriod"/>
            </a:pPr>
            <a:r>
              <a:rPr b="1" lang="en-GB" sz="825">
                <a:latin typeface="Arial"/>
                <a:ea typeface="Arial"/>
                <a:cs typeface="Arial"/>
                <a:sym typeface="Arial"/>
              </a:rPr>
              <a:t>Colcon Build</a:t>
            </a:r>
            <a:endParaRPr b="1" sz="82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75" y="2615575"/>
            <a:ext cx="2564525" cy="3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550" y="1645300"/>
            <a:ext cx="3329850" cy="4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Node</a:t>
            </a:r>
            <a:endParaRPr/>
          </a:p>
        </p:txBody>
      </p:sp>
      <p:sp>
        <p:nvSpPr>
          <p:cNvPr id="399" name="Google Shape;399;p29"/>
          <p:cNvSpPr txBox="1"/>
          <p:nvPr>
            <p:ph idx="1" type="body"/>
          </p:nvPr>
        </p:nvSpPr>
        <p:spPr>
          <a:xfrm>
            <a:off x="311700" y="1295100"/>
            <a:ext cx="8520600" cy="32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7272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Now launch the example. Note here that we use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ros2 run</a:t>
            </a:r>
            <a:r>
              <a:rPr lang="en-GB" sz="1100">
                <a:solidFill>
                  <a:schemeClr val="dk1"/>
                </a:solidFill>
              </a:rPr>
              <a:t>, which is described below.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ros2 run px4_ros_com </a:t>
            </a:r>
            <a:r>
              <a:rPr lang="en-GB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initializeOffboard.py</a:t>
            </a:r>
            <a:r>
              <a:rPr lang="en-GB" sz="1000"/>
              <a:t> -  Initialize OFFBOARD and send Continuous 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Initialize OFFBOARD Mode </a:t>
            </a:r>
            <a:endParaRPr sz="1000"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Creates a ROS2 node.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Publishes </a:t>
            </a:r>
            <a:r>
              <a:rPr b="1" lang="en-GB" sz="1100">
                <a:solidFill>
                  <a:schemeClr val="dk1"/>
                </a:solidFill>
              </a:rPr>
              <a:t>OffboardControlMode</a:t>
            </a:r>
            <a:r>
              <a:rPr lang="en-GB" sz="1100">
                <a:solidFill>
                  <a:schemeClr val="dk1"/>
                </a:solidFill>
              </a:rPr>
              <a:t> + </a:t>
            </a:r>
            <a:r>
              <a:rPr b="1" lang="en-GB" sz="1100">
                <a:solidFill>
                  <a:schemeClr val="dk1"/>
                </a:solidFill>
              </a:rPr>
              <a:t>TrajectorySetpoint</a:t>
            </a:r>
            <a:r>
              <a:rPr lang="en-GB" sz="1100">
                <a:solidFill>
                  <a:schemeClr val="dk1"/>
                </a:solidFill>
              </a:rPr>
              <a:t> at 10 Hz.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After sending 10 initial setpoints, it: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100">
                <a:solidFill>
                  <a:schemeClr val="dk1"/>
                </a:solidFill>
              </a:rPr>
              <a:t>Requests </a:t>
            </a:r>
            <a:r>
              <a:rPr b="1" lang="en-GB" sz="1100">
                <a:solidFill>
                  <a:schemeClr val="dk1"/>
                </a:solidFill>
              </a:rPr>
              <a:t>OFFBOARD mode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100">
                <a:solidFill>
                  <a:schemeClr val="dk1"/>
                </a:solidFill>
              </a:rPr>
              <a:t>Sends </a:t>
            </a:r>
            <a:r>
              <a:rPr b="1" lang="en-GB" sz="1100">
                <a:solidFill>
                  <a:schemeClr val="dk1"/>
                </a:solidFill>
              </a:rPr>
              <a:t>ARM command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Keeps streaming position setpoints to control the drone in </a:t>
            </a:r>
            <a:r>
              <a:rPr b="1" lang="en-GB" sz="1100">
                <a:solidFill>
                  <a:schemeClr val="dk1"/>
                </a:solidFill>
              </a:rPr>
              <a:t>PX4 Offboard Mode</a:t>
            </a:r>
            <a:r>
              <a:rPr lang="en-GB" sz="1100">
                <a:solidFill>
                  <a:schemeClr val="dk1"/>
                </a:solidFill>
              </a:rPr>
              <a:t>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is the </a:t>
            </a:r>
            <a:r>
              <a:rPr b="1" lang="en-GB" sz="1100">
                <a:solidFill>
                  <a:schemeClr val="dk1"/>
                </a:solidFill>
              </a:rPr>
              <a:t>minimum viable offboard control node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PX4 Offboard Control Using ROS 2 — Code Walkthrough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are going to walk </a:t>
            </a:r>
            <a:r>
              <a:rPr lang="en-GB"/>
              <a:t>through</a:t>
            </a:r>
            <a:r>
              <a:rPr lang="en-GB"/>
              <a:t>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Initialize OFFBoard Mode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Creating a square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Position Control Node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