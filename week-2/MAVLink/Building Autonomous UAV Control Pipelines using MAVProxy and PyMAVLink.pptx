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Montserrat ExtraBold"/>
      <p:bold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5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ExtraBold-bold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b155cd6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b155cd6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b155cd6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b155cd6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b155cd6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b155cd6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1b155cd6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1b155cd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1b155cd6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1b155cd6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1b155cd6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1b155cd6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b155cd6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1b155cd6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1b155cd6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1b155cd6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1b155cd6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1b155cd6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b155cd6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b155cd6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1b155cd6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1b155cd6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1b155cd6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1b155cd6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1b155cd6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1b155cd6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1b155cd6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1b155cd6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b155cd6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1b155cd6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b155cd6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1b155cd6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b155cd6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1b155cd6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1b155cd6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1b155cd6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1b155cd6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1b155cd6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1b155cd6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1b155cd6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1b155cd61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1b155cd6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1ba846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1ba846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1ba8468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1ba8468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1ba84685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1ba84685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ba84685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1ba84685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1ba84685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1ba84685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ardu-sim.sh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avlink.io/en/messages/common.html#mav_commands" TargetMode="External"/><Relationship Id="rId4" Type="http://schemas.openxmlformats.org/officeDocument/2006/relationships/hyperlink" Target="https://mavlink.io/en/messages/common.html#mav_commands" TargetMode="External"/><Relationship Id="rId11" Type="http://schemas.openxmlformats.org/officeDocument/2006/relationships/image" Target="../media/image18.png"/><Relationship Id="rId10" Type="http://schemas.openxmlformats.org/officeDocument/2006/relationships/hyperlink" Target="https://mavlink.io/en/messages/common.html#MAV_CMD_NAV_TAKEOFF" TargetMode="External"/><Relationship Id="rId9" Type="http://schemas.openxmlformats.org/officeDocument/2006/relationships/hyperlink" Target="https://mavlink.io/en/messages/common.html#MAV_CMD_NAV_TAKEOFF" TargetMode="External"/><Relationship Id="rId5" Type="http://schemas.openxmlformats.org/officeDocument/2006/relationships/hyperlink" Target="https://mavlink.io/en/messages/common.html#COMMAND_LONG" TargetMode="External"/><Relationship Id="rId6" Type="http://schemas.openxmlformats.org/officeDocument/2006/relationships/hyperlink" Target="https://mavlink.io/en/messages/common.html#COMMAND_LONG" TargetMode="External"/><Relationship Id="rId7" Type="http://schemas.openxmlformats.org/officeDocument/2006/relationships/hyperlink" Target="https://mavlink.io/en/services/command.html" TargetMode="External"/><Relationship Id="rId8" Type="http://schemas.openxmlformats.org/officeDocument/2006/relationships/hyperlink" Target="https://mavlink.io/en/services/command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Building UAV Control Pipelines using </a:t>
            </a:r>
            <a:r>
              <a:rPr b="1" lang="en-GB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MAVProxy</a:t>
            </a:r>
            <a:r>
              <a:rPr lang="en-GB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-GB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PyMAVLink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Introduction 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What is MAVLink, MAVProxy, and PyMAVLink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How they fit into the ArduPilot ecosystem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Part 1 — MAVProxy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Concepts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MAVProxy overview and role in GCS stack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Installation and setup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Connecting to SITL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Modules, commands, and outputs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Hands-on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Connect SITL to MAVProxy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Monitor parameters, heartbeats, and mode changes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Control vehicle via console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-GB" sz="1130">
                <a:solidFill>
                  <a:schemeClr val="dk1"/>
                </a:solidFill>
              </a:rPr>
              <a:t>Part 2 — PyMAVLink </a:t>
            </a:r>
            <a:endParaRPr b="1" sz="11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-GB" sz="1130">
                <a:solidFill>
                  <a:schemeClr val="dk1"/>
                </a:solidFill>
              </a:rPr>
              <a:t>Concepts </a:t>
            </a:r>
            <a:endParaRPr b="1" sz="11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-GB" sz="1130">
                <a:solidFill>
                  <a:schemeClr val="dk1"/>
                </a:solidFill>
              </a:rPr>
              <a:t>PYMAVLink overview &amp; architecture</a:t>
            </a:r>
            <a:endParaRPr b="1" sz="1130">
              <a:solidFill>
                <a:schemeClr val="dk1"/>
              </a:solidFill>
            </a:endParaRPr>
          </a:p>
          <a:p>
            <a:pPr indent="-3003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30"/>
              <a:buChar char="●"/>
            </a:pPr>
            <a:r>
              <a:rPr lang="en-GB" sz="1130">
                <a:solidFill>
                  <a:schemeClr val="dk1"/>
                </a:solidFill>
              </a:rPr>
              <a:t>Connecting to MAVLink endpoints</a:t>
            </a:r>
            <a:endParaRPr sz="1130">
              <a:solidFill>
                <a:schemeClr val="dk1"/>
              </a:solidFill>
            </a:endParaRPr>
          </a:p>
          <a:p>
            <a:pPr indent="-30035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Char char="●"/>
            </a:pPr>
            <a:r>
              <a:rPr lang="en-GB" sz="1130">
                <a:solidFill>
                  <a:schemeClr val="dk1"/>
                </a:solidFill>
              </a:rPr>
              <a:t>Common message types &amp; commands</a:t>
            </a:r>
            <a:endParaRPr sz="11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b="1" lang="en-GB" sz="1130">
                <a:solidFill>
                  <a:schemeClr val="dk1"/>
                </a:solidFill>
              </a:rPr>
              <a:t>Hands-on </a:t>
            </a:r>
            <a:endParaRPr b="1" sz="1130">
              <a:solidFill>
                <a:schemeClr val="dk1"/>
              </a:solidFill>
            </a:endParaRPr>
          </a:p>
          <a:p>
            <a:pPr indent="-30035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30"/>
              <a:buChar char="●"/>
            </a:pPr>
            <a:r>
              <a:rPr lang="en-GB" sz="1130">
                <a:solidFill>
                  <a:schemeClr val="dk1"/>
                </a:solidFill>
              </a:rPr>
              <a:t>Write Python scripts to:</a:t>
            </a:r>
            <a:br>
              <a:rPr lang="en-GB" sz="1130">
                <a:solidFill>
                  <a:schemeClr val="dk1"/>
                </a:solidFill>
              </a:rPr>
            </a:br>
            <a:endParaRPr sz="1130">
              <a:solidFill>
                <a:schemeClr val="dk1"/>
              </a:solidFill>
            </a:endParaRPr>
          </a:p>
          <a:p>
            <a:pPr indent="-3003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Char char="○"/>
            </a:pPr>
            <a:r>
              <a:rPr lang="en-GB" sz="1130">
                <a:solidFill>
                  <a:schemeClr val="dk1"/>
                </a:solidFill>
              </a:rPr>
              <a:t>Arm &amp; takeoff</a:t>
            </a:r>
            <a:endParaRPr sz="1130">
              <a:solidFill>
                <a:schemeClr val="dk1"/>
              </a:solidFill>
            </a:endParaRPr>
          </a:p>
          <a:p>
            <a:pPr indent="-3003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Char char="○"/>
            </a:pPr>
            <a:r>
              <a:rPr lang="en-GB" sz="1130">
                <a:solidFill>
                  <a:schemeClr val="dk1"/>
                </a:solidFill>
              </a:rPr>
              <a:t>Change flight modes</a:t>
            </a:r>
            <a:endParaRPr sz="1130">
              <a:solidFill>
                <a:schemeClr val="dk1"/>
              </a:solidFill>
            </a:endParaRPr>
          </a:p>
          <a:p>
            <a:pPr indent="-3003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Char char="○"/>
            </a:pPr>
            <a:r>
              <a:rPr lang="en-GB" sz="1130">
                <a:solidFill>
                  <a:schemeClr val="dk1"/>
                </a:solidFill>
              </a:rPr>
              <a:t>Vehicle connections</a:t>
            </a:r>
            <a:endParaRPr sz="1130">
              <a:solidFill>
                <a:schemeClr val="dk1"/>
              </a:solidFill>
            </a:endParaRPr>
          </a:p>
          <a:p>
            <a:pPr indent="-3003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Char char="○"/>
            </a:pPr>
            <a:r>
              <a:rPr lang="en-GB" sz="1130">
                <a:solidFill>
                  <a:schemeClr val="dk1"/>
                </a:solidFill>
              </a:rPr>
              <a:t>Arm and Disarm </a:t>
            </a:r>
            <a:endParaRPr sz="1130">
              <a:solidFill>
                <a:schemeClr val="dk1"/>
              </a:solidFill>
            </a:endParaRPr>
          </a:p>
          <a:p>
            <a:pPr indent="-3003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Char char="○"/>
            </a:pPr>
            <a:r>
              <a:rPr lang="en-GB" sz="1130">
                <a:solidFill>
                  <a:schemeClr val="dk1"/>
                </a:solidFill>
              </a:rPr>
              <a:t>Get vehicle data</a:t>
            </a:r>
            <a:endParaRPr sz="1130">
              <a:solidFill>
                <a:schemeClr val="dk1"/>
              </a:solidFill>
            </a:endParaRPr>
          </a:p>
          <a:p>
            <a:pPr indent="-30035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0"/>
              <a:buChar char="○"/>
            </a:pPr>
            <a:r>
              <a:rPr lang="en-GB" sz="1130">
                <a:solidFill>
                  <a:schemeClr val="dk1"/>
                </a:solidFill>
              </a:rPr>
              <a:t>Send vehicle data</a:t>
            </a:r>
            <a:br>
              <a:rPr lang="en-GB" sz="1130">
                <a:solidFill>
                  <a:schemeClr val="dk1"/>
                </a:solidFill>
              </a:rPr>
            </a:br>
            <a:endParaRPr sz="11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400"/>
              <a:t>MAVPROXY</a:t>
            </a:r>
            <a:endParaRPr sz="3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MAVProxy — The Command-Line Ground Control Station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28675" y="1386325"/>
            <a:ext cx="4224600" cy="1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🧠 What is MAVProxy?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 </a:t>
            </a:r>
            <a:r>
              <a:rPr b="1" lang="en-GB" sz="1100">
                <a:solidFill>
                  <a:schemeClr val="dk1"/>
                </a:solidFill>
              </a:rPr>
              <a:t>lightweight, command-line Ground Control Station (GCS)</a:t>
            </a:r>
            <a:r>
              <a:rPr lang="en-GB" sz="1100">
                <a:solidFill>
                  <a:schemeClr val="dk1"/>
                </a:solidFill>
              </a:rPr>
              <a:t> for MAVLink-enabled vehicles.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Acts as a </a:t>
            </a:r>
            <a:r>
              <a:rPr b="1" lang="en-GB" sz="1100">
                <a:solidFill>
                  <a:schemeClr val="dk1"/>
                </a:solidFill>
              </a:rPr>
              <a:t>router and monitor</a:t>
            </a:r>
            <a:r>
              <a:rPr lang="en-GB" sz="1100">
                <a:solidFill>
                  <a:schemeClr val="dk1"/>
                </a:solidFill>
              </a:rPr>
              <a:t> for MAVLink messages between autopilot, SITL, and other GCS tools (like QGroundControl).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Written in </a:t>
            </a:r>
            <a:r>
              <a:rPr b="1" lang="en-GB" sz="1100">
                <a:solidFill>
                  <a:schemeClr val="dk1"/>
                </a:solidFill>
              </a:rPr>
              <a:t>Python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150" y="1474987"/>
            <a:ext cx="3954150" cy="300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900" y="3200225"/>
            <a:ext cx="4606900" cy="19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MAVProxy as a Communication Hub 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050" y="932025"/>
            <a:ext cx="2974275" cy="40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263" y="2900938"/>
            <a:ext cx="52482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 SITL Instance + MAVProxy + QGC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7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/>
              <a:t>step 1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cd &amp;&amp; cd ardu-sim/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/>
              <a:t>step 2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./arducopter -S --model + --speedup 1 --defaults parameters/copter.parm -I0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/>
              <a:t>step 3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mavproxy.py --master tcp:127.0.0.1:5760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/>
              <a:t>step 4 Connect to QGC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mavproxy.py --master tcp:127.0.0.1:5760 </a:t>
            </a:r>
            <a:r>
              <a:rPr lang="en-GB"/>
              <a:t>--out udp:127.0.0.1:14550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Telemetry Forwarding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88" y="1017713"/>
            <a:ext cx="7534275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Telemetry Forwarding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cd ardu-sim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./</a:t>
            </a:r>
            <a:r>
              <a:rPr lang="en-GB" u="sng">
                <a:solidFill>
                  <a:schemeClr val="hlink"/>
                </a:solidFill>
                <a:hlinkClick r:id="rId3"/>
              </a:rPr>
              <a:t>ardu-sim.sh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screen -ls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2 - New terminal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mavproxy.py --master=udp:127.0.0.1:14550 --out=127.0.0.1:10000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3 - New terminal ( Forward Instance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mavproxy.py --master=udp:127.0.0.1:10000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Arm Disarm Vehicle using MAVProxy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1. Connect to the vehicle using `</a:t>
            </a:r>
            <a:r>
              <a:rPr b="1" lang="en-GB">
                <a:solidFill>
                  <a:srgbClr val="188038"/>
                </a:solidFill>
              </a:rPr>
              <a:t>mavproxy.py --master=127.0.0.1:14550 --console --map</a:t>
            </a:r>
            <a:r>
              <a:rPr lang="en-GB"/>
              <a:t>`.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2. To arm the vehicle type `</a:t>
            </a:r>
            <a:r>
              <a:rPr b="1" lang="en-GB">
                <a:solidFill>
                  <a:srgbClr val="188038"/>
                </a:solidFill>
              </a:rPr>
              <a:t>arm throttle</a:t>
            </a:r>
            <a:r>
              <a:rPr lang="en-GB"/>
              <a:t>` in command 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3. To disarm the vehicle type `</a:t>
            </a:r>
            <a:r>
              <a:rPr b="1" lang="en-GB">
                <a:solidFill>
                  <a:srgbClr val="188038"/>
                </a:solidFill>
              </a:rPr>
              <a:t>disarm</a:t>
            </a:r>
            <a:r>
              <a:rPr lang="en-GB"/>
              <a:t>` in command 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4. If you arm the vehicle and do nothing it automatically disarms after `DISARM_DELAY` seconds.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5. To show disarm delay parameter `</a:t>
            </a:r>
            <a:r>
              <a:rPr lang="en-GB">
                <a:solidFill>
                  <a:srgbClr val="188038"/>
                </a:solidFill>
              </a:rPr>
              <a:t>param show DISARM_DELAY`.</a:t>
            </a:r>
            <a:endParaRPr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6. To set disarm delay parameter to 10 seconds `</a:t>
            </a:r>
            <a:r>
              <a:rPr lang="en-GB">
                <a:solidFill>
                  <a:srgbClr val="188038"/>
                </a:solidFill>
              </a:rPr>
              <a:t>param set DISARM_DELAY 10`.</a:t>
            </a:r>
            <a:endParaRPr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Change Flight Mode and Takeoff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1. Connect to the vehicle using `</a:t>
            </a:r>
            <a:r>
              <a:rPr b="1" lang="en-GB">
                <a:solidFill>
                  <a:srgbClr val="188038"/>
                </a:solidFill>
              </a:rPr>
              <a:t>mavproxy.py --master=127.0.0.1:14550 --console --map</a:t>
            </a:r>
            <a:r>
              <a:rPr lang="en-GB"/>
              <a:t>`.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2. To change the flight mode `</a:t>
            </a:r>
            <a:r>
              <a:rPr b="1" lang="en-GB">
                <a:solidFill>
                  <a:srgbClr val="188038"/>
                </a:solidFill>
              </a:rPr>
              <a:t>mode</a:t>
            </a:r>
            <a:r>
              <a:rPr lang="en-GB"/>
              <a:t>` in command line.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3. Example `</a:t>
            </a:r>
            <a:r>
              <a:rPr b="1" lang="en-GB">
                <a:solidFill>
                  <a:srgbClr val="188038"/>
                </a:solidFill>
              </a:rPr>
              <a:t>mode GUIDED</a:t>
            </a:r>
            <a:r>
              <a:rPr lang="en-GB"/>
              <a:t>`.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4. Let's take off the vehicle to the 10 meters: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rgbClr val="188038"/>
                </a:solidFill>
              </a:rPr>
              <a:t>   1. `mode GUIDED`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rgbClr val="188038"/>
                </a:solidFill>
              </a:rPr>
              <a:t>   2. `arm throttle`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>
                <a:solidFill>
                  <a:srgbClr val="188038"/>
                </a:solidFill>
              </a:rPr>
              <a:t>   3. `takeoff 10`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5. Let's get back our vehicle to the ground.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 1.</a:t>
            </a:r>
            <a:r>
              <a:rPr lang="en-GB">
                <a:solidFill>
                  <a:srgbClr val="188038"/>
                </a:solidFill>
              </a:rPr>
              <a:t> </a:t>
            </a:r>
            <a:r>
              <a:rPr b="1" lang="en-GB">
                <a:solidFill>
                  <a:srgbClr val="188038"/>
                </a:solidFill>
              </a:rPr>
              <a:t>`mode RTL` or `mode LAND`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6. Let's fly to a location in GUIDED mode.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  1. </a:t>
            </a:r>
            <a:r>
              <a:rPr b="1" lang="en-GB">
                <a:solidFill>
                  <a:srgbClr val="188038"/>
                </a:solidFill>
              </a:rPr>
              <a:t>`guided -35.36217477 149.16507393 10`</a:t>
            </a:r>
            <a:endParaRPr b="1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command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Connect to the vehicle using: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mavproxy.py --master=127.0.0.1:14550 and press tab.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reboot</a:t>
            </a:r>
            <a:r>
              <a:rPr lang="en-GB" sz="1100">
                <a:solidFill>
                  <a:schemeClr val="dk1"/>
                </a:solidFill>
              </a:rPr>
              <a:t> command is used to soft restart flight controller.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</a:t>
            </a:r>
            <a:r>
              <a:rPr lang="en-GB" sz="1100">
                <a:solidFill>
                  <a:schemeClr val="dk1"/>
                </a:solidFill>
              </a:rPr>
              <a:t> is used to show time on flight controller and computer.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shell</a:t>
            </a:r>
            <a:r>
              <a:rPr lang="en-GB" sz="1100">
                <a:solidFill>
                  <a:schemeClr val="dk1"/>
                </a:solidFill>
              </a:rPr>
              <a:t> is used to run a shell command.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en-GB" sz="1100">
                <a:solidFill>
                  <a:schemeClr val="dk1"/>
                </a:solidFill>
              </a:rPr>
              <a:t> command shows the latest packets.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Long Command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361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Long command enables user to send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MAV_CMD_*</a:t>
            </a:r>
            <a:r>
              <a:rPr lang="en-GB" sz="1100">
                <a:solidFill>
                  <a:schemeClr val="dk1"/>
                </a:solidFill>
              </a:rPr>
              <a:t> commands to vehicle.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It is used to send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6"/>
              </a:rPr>
              <a:t>COMMAND_LONG</a:t>
            </a:r>
            <a:r>
              <a:rPr lang="en-GB" sz="1100">
                <a:solidFill>
                  <a:schemeClr val="dk1"/>
                </a:solidFill>
              </a:rPr>
              <a:t> messages to the vehicle to give commands during flight.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All the parameters are in float.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It uses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8"/>
              </a:rPr>
              <a:t>command</a:t>
            </a:r>
            <a:r>
              <a:rPr lang="en-GB" sz="1100">
                <a:solidFill>
                  <a:schemeClr val="dk1"/>
                </a:solidFill>
              </a:rPr>
              <a:t> service of the MAVLink.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Usage is: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long COMMAND_NAME PARAM1 PARAM2 PARAM3 PARAM4 PARAM5 PARAM6 PARAM7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Lets takeoff in guided mode using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10"/>
              </a:rPr>
              <a:t>MAV_CMD_NAV_TAKEOFF</a:t>
            </a:r>
            <a:r>
              <a:rPr lang="en-GB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</a:rPr>
              <a:t>arm throttle</a:t>
            </a:r>
            <a:endParaRPr sz="1100">
              <a:solidFill>
                <a:srgbClr val="188038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long MAV_CMD_NAV_TAKEOFF 0 0 0 0 0 0 10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This command needs takeoff altitude in meters as its 7th parameter.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55400" y="1358325"/>
            <a:ext cx="5012799" cy="20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08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4100"/>
              <a:t>PYMAVLink</a:t>
            </a:r>
            <a:endParaRPr sz="4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Connection with PYMAVLink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700" y="1222150"/>
            <a:ext cx="2761600" cy="392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 to the Vehicle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/>
              <a:t>import pymavlink.mavutil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# connect to vehicle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/>
              <a:t>vehicle = pymavlink.mavutil.mavlink_connection(device="udpin:127.0.0.1:14570")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# wait for a heartbeat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/>
              <a:t>vehicle.wait_heartbeat(timeout=5)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# debugging messages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/>
              <a:t>print("Connected to the vehicle")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print("Target system:", vehicle.target_system, "Target component:", vehicle.target_component)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Receiving</a:t>
            </a:r>
            <a:r>
              <a:rPr lang="en-GB"/>
              <a:t> Message from Vehicle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27" y="1017725"/>
            <a:ext cx="6047250" cy="43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Sending Message to the Vehicle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01" y="977900"/>
            <a:ext cx="6346300" cy="42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Arming and Disarming of Vehicle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8400" y="985600"/>
            <a:ext cx="4773100" cy="430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Flight Modes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050" y="1871513"/>
            <a:ext cx="51435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 OFF </a:t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50" y="1851850"/>
            <a:ext cx="3306024" cy="18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425" y="1380025"/>
            <a:ext cx="4756475" cy="28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3"/>
          <p:cNvSpPr/>
          <p:nvPr/>
        </p:nvSpPr>
        <p:spPr>
          <a:xfrm>
            <a:off x="3787600" y="2622450"/>
            <a:ext cx="688500" cy="30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Land Command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37850"/>
            <a:ext cx="3873400" cy="236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1225" y="1438325"/>
            <a:ext cx="4096800" cy="28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4"/>
          <p:cNvSpPr/>
          <p:nvPr/>
        </p:nvSpPr>
        <p:spPr>
          <a:xfrm>
            <a:off x="4185100" y="2622450"/>
            <a:ext cx="630900" cy="34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Case Study : How MAVLink 2 powers real-time coordination in next-generation combat UAVs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667625"/>
            <a:ext cx="8520600" cy="29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500">
                <a:latin typeface="Montserrat ExtraBold"/>
                <a:ea typeface="Montserrat ExtraBold"/>
                <a:cs typeface="Montserrat ExtraBold"/>
                <a:sym typeface="Montserrat ExtraBold"/>
              </a:rPr>
              <a:t>Collaborative Combat UAV</a:t>
            </a:r>
            <a:endParaRPr sz="3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Mission Scenario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76" y="1444500"/>
            <a:ext cx="6615325" cy="27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6"/>
          <p:cNvSpPr txBox="1"/>
          <p:nvPr/>
        </p:nvSpPr>
        <p:spPr>
          <a:xfrm>
            <a:off x="1609650" y="4347475"/>
            <a:ext cx="5756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Each UAV is both a sensor and a teammate — sharing data, reacting collectively.</a:t>
            </a:r>
            <a:endParaRPr i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MAVLink 2: The Digital Backbone</a:t>
            </a:r>
            <a:endParaRPr/>
          </a:p>
        </p:txBody>
      </p:sp>
      <p:sp>
        <p:nvSpPr>
          <p:cNvPr id="218" name="Google Shape;21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888" y="1323700"/>
            <a:ext cx="597217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Architecture: Collaborative Combat UAVs (CCA)</a:t>
            </a:r>
            <a:endParaRPr/>
          </a:p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2176" y="946575"/>
            <a:ext cx="3196301" cy="416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 Leader Policy</a:t>
            </a:r>
            <a:endParaRPr/>
          </a:p>
        </p:txBody>
      </p:sp>
      <p:sp>
        <p:nvSpPr>
          <p:cNvPr id="232" name="Google Shape;23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899" y="1152474"/>
            <a:ext cx="7912575" cy="35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